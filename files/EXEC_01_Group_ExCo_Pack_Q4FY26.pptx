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Zava Group Executive Committee Pack — Q4 FY2026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Presentation date: 26 May 2026 | Confidential ExCo working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Purpose: align ExCo on FY2026 close-out, FY2027 capital posture and three CEO decisions before Board Strategy Day.</a:t>
            </a:r>
          </a:p>
          <a:p>
            <a:pPr>
              <a:defRPr sz="1700"/>
            </a:pPr>
            <a:r>
              <a:t>Group revenue forecast: MYR 28.4B; EBITDA margin 19.7%; net debt / EBITDA 1.6x after RM2.8B free capital release.</a:t>
            </a:r>
          </a:p>
          <a:p>
            <a:pPr>
              <a:defRPr sz="1700"/>
            </a:pPr>
            <a:r>
              <a:t>Regulator context: BNM credit buffers, Bursa continuous disclosure, OJK partner approvals, MAS digital resilience expectations.</a:t>
            </a:r>
          </a:p>
          <a:p>
            <a:pPr>
              <a:defRPr sz="1700"/>
            </a:pPr>
            <a:r>
              <a:t>Prepared for: Mod Admin, Group CEO; Sasha Ouellet, Chief of Staff; Zava Group Executive Committee.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1-page CEO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Performance: four of five divisions on or above FY26 revenue plan; Energy is volume-positive but margin-dilutive due to LNG pass-through.</a:t>
            </a:r>
          </a:p>
          <a:p>
            <a:pPr>
              <a:defRPr sz="1400"/>
            </a:pPr>
            <a:r>
              <a:t>Capital: RM2.8B free capital available for FY27 after maintaining BNM CET1 comfort and energy covenant headroom.</a:t>
            </a:r>
          </a:p>
          <a:p>
            <a:pPr>
              <a:defRPr sz="1400"/>
            </a:pPr>
            <a:r>
              <a:t>ESG: Scope 1+2 intensity down 8.7% vs FY24 baseline; Plantations traceability at 94%, but EU deforestation documentation remains a watch item.</a:t>
            </a:r>
          </a:p>
          <a:p>
            <a:pPr>
              <a:defRPr sz="1400"/>
            </a:pPr>
            <a:r>
              <a:t>People: leadership succession coverage improved to 71%; Bank cyber/AML capability and Pharma regulatory affairs remain constrained.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82296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CEO call-outs: approve FY27 capex envelope, decide on Java IPP partner exclusivity, and align on AI productivity mandate.</a:t>
            </a:r>
          </a:p>
          <a:p>
            <a:pPr>
              <a:defRPr sz="1400"/>
            </a:pPr>
            <a:r>
              <a:t>Risks: ringgit volatility, CPO price correction, biosimilars patent cliff timing, Bursa disclosure controls, and AML cyber attempts.</a:t>
            </a:r>
          </a:p>
          <a:p>
            <a:pPr>
              <a:defRPr sz="1400"/>
            </a:pPr>
            <a:r>
              <a:t>Investor message: disciplined ASEAN compounder — stronger cash conversion, lower carbon intensity, and targeted digital productivity.</a:t>
            </a:r>
          </a:p>
          <a:p>
            <a:pPr>
              <a:defRPr sz="1400"/>
            </a:pPr>
            <a:r>
              <a:t>Board ask: endorse productivity/decarbonisation/digital as the three moves for FY27-29.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Five-division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214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746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Revenue YTD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EBITDA 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ESG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NPS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CEO signal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MYR 6.8B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Grow deposits, tighten AML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Plantations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MYR 5.4B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Accelerate Sabah replanting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MYR 7.7B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Bid LSS5 selectively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Pharma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MYR 3.9B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Biosimilars expansion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Consumer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MYR 4.6B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Scale Bandung fulfilment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Zava Bank — Q4 FY26 KPI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Revenue MYR 6.8B, +5.1% YoY; CASA ratio 39.4%; cost-income 42.7%.</a:t>
            </a:r>
          </a:p>
          <a:p>
            <a:pPr>
              <a:defRPr sz="1600"/>
            </a:pPr>
            <a:r>
              <a:t>BNM capital: CET1 13.6%, total capital 17.8%; Tier-2 top-up optionality RM600M.</a:t>
            </a:r>
          </a:p>
          <a:p>
            <a:pPr>
              <a:defRPr sz="1600"/>
            </a:pPr>
            <a:r>
              <a:t>Digital lending NPS +47; AML cyber simulations reveal two vendor remediation items.</a:t>
            </a:r>
          </a:p>
          <a:p>
            <a:pPr>
              <a:defRPr sz="1600"/>
            </a:pPr>
            <a:r>
              <a:t>Priority: SME trade finance growth in MY/SG corridors while preserving risk-weighted asset discipline.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Zava Plantations — Q4 FY26 KPI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FFB yield 20.8 t/ha; CPO extraction 21.9%; Sabah replanting backlog 18,400 ha.</a:t>
            </a:r>
          </a:p>
          <a:p>
            <a:pPr>
              <a:defRPr sz="1600"/>
            </a:pPr>
            <a:r>
              <a:t>EU deforestation documentation at 94% farm-plot traceability; independent verification due Aug 2026.</a:t>
            </a:r>
          </a:p>
          <a:p>
            <a:pPr>
              <a:defRPr sz="1600"/>
            </a:pPr>
            <a:r>
              <a:t>EBITDA margin 18.2% despite CPO spot softness; biomass energy offsets MYR 38M cost.</a:t>
            </a:r>
          </a:p>
          <a:p>
            <a:pPr>
              <a:defRPr sz="1600"/>
            </a:pPr>
            <a:r>
              <a:t>Priority: accelerate high-yield seedlings and worker housing retention programme.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Zava Energy — Q4 FY26 KPI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Revenue MYR 7.7B; EBITDA margin 16.0%; Pengerang uptime 96.8%.</a:t>
            </a:r>
          </a:p>
          <a:p>
            <a:pPr>
              <a:defRPr sz="1600"/>
            </a:pPr>
            <a:r>
              <a:t>LSS5 Malaysia bid and Java IPP option require RM800M FY27 envelope.</a:t>
            </a:r>
          </a:p>
          <a:p>
            <a:pPr>
              <a:defRPr sz="1600"/>
            </a:pPr>
            <a:r>
              <a:t>Carbon intensity down 6.2%; methane detection programme expanded to Johor and Java assets.</a:t>
            </a:r>
          </a:p>
          <a:p>
            <a:pPr>
              <a:defRPr sz="1600"/>
            </a:pPr>
            <a:r>
              <a:t>Priority: partner decision for Java by 30 Jun 2026; keep net debt/EBITDA below 1.8x.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Zava Pharma — Q4 FY26 KPI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Revenue MYR 3.9B; EBITDA margin 21.6%; sterile line utilisation 78%.</a:t>
            </a:r>
          </a:p>
          <a:p>
            <a:pPr>
              <a:defRPr sz="1600"/>
            </a:pPr>
            <a:r>
              <a:t>Biosimilars expansion supports MY/ID tenders; OJK-listed partner approval tracked.</a:t>
            </a:r>
          </a:p>
          <a:p>
            <a:pPr>
              <a:defRPr sz="1600"/>
            </a:pPr>
            <a:r>
              <a:t>Patent cliff scenario: MYR 210M revenue at risk FY28 if two tenders move faster than expected.</a:t>
            </a:r>
          </a:p>
          <a:p>
            <a:pPr>
              <a:defRPr sz="1600"/>
            </a:pPr>
            <a:r>
              <a:t>Priority: regulatory affairs hires in Jakarta and Singapore; lock CMO capacity by Q2 FY27.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Zava Consumer — Q4 FY26 KPI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Revenue MYR 4.6B; e-commerce GMV +31%; Bandung fulfilment accuracy 98.4%.</a:t>
            </a:r>
          </a:p>
          <a:p>
            <a:pPr>
              <a:defRPr sz="1600"/>
            </a:pPr>
            <a:r>
              <a:t>Gross margin held at 31.1% despite IDR volatility and promotions.</a:t>
            </a:r>
          </a:p>
          <a:p>
            <a:pPr>
              <a:defRPr sz="1600"/>
            </a:pPr>
            <a:r>
              <a:t>Customer NPS 52; returns rate elevated in health &amp; beauty bundles.</a:t>
            </a:r>
          </a:p>
          <a:p>
            <a:pPr>
              <a:defRPr sz="1600"/>
            </a:pPr>
            <a:r>
              <a:t>Priority: approve RM400M platform modernisation and marketplace data clean-room partnerships.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Capital allocation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FY26 closing cash MYR 4.6B; FY27 free cash flow MYR 3.2B; maintain liquidity reserve MYR 2.2B.</a:t>
            </a:r>
          </a:p>
          <a:p>
            <a:pPr>
              <a:defRPr sz="1600"/>
            </a:pPr>
            <a:r>
              <a:t>Available free capital: RM2.8B; proposed uses total RM2.8B with staggered drawdown across FY27.</a:t>
            </a:r>
          </a:p>
          <a:p>
            <a:pPr>
              <a:defRPr sz="1600"/>
            </a:pPr>
            <a:r>
              <a:t>Highest strategic fit: Energy LSS5 + Java IPP (4.6/5) and Pharma biosimilars (4.5/5).</a:t>
            </a:r>
          </a:p>
          <a:p>
            <a:pPr>
              <a:defRPr sz="1600"/>
            </a:pPr>
            <a:r>
              <a:t>CEO recommendation: approve envelope, gate Energy at partner term sheet, and reserve RM250M contingency.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ESG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Scope 1+2 emissions intensity down 8.7% vs FY24 baseline; renewable electricity procurement at 42%.</a:t>
            </a:r>
          </a:p>
          <a:p>
            <a:pPr>
              <a:defRPr sz="1600"/>
            </a:pPr>
            <a:r>
              <a:t>Plantations traceability: 94% to plot; remaining gaps are smallholders in Sabah and Kalimantan.</a:t>
            </a:r>
          </a:p>
          <a:p>
            <a:pPr>
              <a:defRPr sz="1600"/>
            </a:pPr>
            <a:r>
              <a:t>Safety: Group LTIFR 0.39, improved from 0.51; Pengerang contractor controls remain under review.</a:t>
            </a:r>
          </a:p>
          <a:p>
            <a:pPr>
              <a:defRPr sz="1600"/>
            </a:pPr>
            <a:r>
              <a:t>Governance: Bursa disclosure control refresh complete; IDX affiliate reporting protocol drafted for Indonesia entities.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People and talent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12,400 employees across MY/ID/SG/TH/PH; voluntary attrition 8.8% vs 9.5% target.</a:t>
            </a:r>
          </a:p>
          <a:p>
            <a:pPr>
              <a:defRPr sz="1600"/>
            </a:pPr>
            <a:r>
              <a:t>Succession coverage for critical roles 71%; gaps in cyber risk, regulatory affairs and AI product management.</a:t>
            </a:r>
          </a:p>
          <a:p>
            <a:pPr>
              <a:defRPr sz="1600"/>
            </a:pPr>
            <a:r>
              <a:t>Frontline capability: Plantations mechanisation academy trained 620 supervisors; Energy contractor HSE refresher reached 1,800 workers.</a:t>
            </a:r>
          </a:p>
          <a:p>
            <a:pPr>
              <a:defRPr sz="1600"/>
            </a:pPr>
            <a:r>
              <a:t>FY27 people decision: create Group AI Productivity Office reporting to CEO and CFO with division champions.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Principal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Strategic: ASEAN demand slowdown and CPO price correction could pressure RM650M revenue.</a:t>
            </a:r>
          </a:p>
          <a:p>
            <a:pPr>
              <a:defRPr sz="1600"/>
            </a:pPr>
            <a:r>
              <a:t>Operational: AML cyber attempts at Bank, Pengerang equipment reliability, sterile line validation timing.</a:t>
            </a:r>
          </a:p>
          <a:p>
            <a:pPr>
              <a:defRPr sz="1600"/>
            </a:pPr>
            <a:r>
              <a:t>Regulatory: EU deforestation regulation, Bursa/IDX disclosure timing, MAS technology risk guidelines for SG wallet integrations.</a:t>
            </a:r>
          </a:p>
          <a:p>
            <a:pPr>
              <a:defRPr sz="1600"/>
            </a:pPr>
            <a:r>
              <a:t>Financial: MYR/IDR volatility; hedging coverage 68% of FY27 committed imports and energy procurement.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The 3 ExCo 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1. Approve FY27 capital envelope of RM2.8B, with Energy and Pharma staged gates and Board reporting monthly.</a:t>
            </a:r>
          </a:p>
          <a:p>
            <a:pPr>
              <a:defRPr sz="1800"/>
            </a:pPr>
            <a:r>
              <a:t>2. Endorse FY27-29 strategic moves: productivity, decarbonisation and digital — each with quantified divisional targets by 31 July 2026.</a:t>
            </a:r>
          </a:p>
          <a:p>
            <a:pPr>
              <a:defRPr sz="1800"/>
            </a:pPr>
            <a:r>
              <a:t>3. Confirm CEO-level risk owners for EU deforestation readiness, AML cyber resilience and biosimilars patent cliff mitigation.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